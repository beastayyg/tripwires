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640080" y="457200"/>
            <a:ext cx="10972800" cy="457200"/>
          </a:xfrm>
          <a:prstGeom prst="rect">
            <a:avLst/>
          </a:prstGeom>
          <a:noFill/>
        </p:spPr>
        <p:txBody>
          <a:bodyPr wrap="square" anchor="t">
            <a:spAutoFit/>
          </a:bodyPr>
          <a:lstStyle/>
          <a:p>
            <a:pPr algn="l">
              <a:defRPr sz="1400" b="1">
                <a:solidFill>
                  <a:srgbClr val="F5A524"/>
                </a:solidFill>
                <a:latin typeface="Consolas"/>
              </a:defRPr>
            </a:pPr>
            <a:r>
              <a:t>HACK SPRINT 2026  |  MIT BENGALURU  |  24-HOUR HACKATHON</a:t>
            </a:r>
          </a:p>
        </p:txBody>
      </p:sp>
      <p:sp>
        <p:nvSpPr>
          <p:cNvPr id="3" name="TextBox 2"/>
          <p:cNvSpPr txBox="1"/>
          <p:nvPr/>
        </p:nvSpPr>
        <p:spPr>
          <a:xfrm>
            <a:off x="640080" y="1051560"/>
            <a:ext cx="8686800" cy="1463040"/>
          </a:xfrm>
          <a:prstGeom prst="rect">
            <a:avLst/>
          </a:prstGeom>
          <a:noFill/>
        </p:spPr>
        <p:txBody>
          <a:bodyPr wrap="square" anchor="t">
            <a:spAutoFit/>
          </a:bodyPr>
          <a:lstStyle/>
          <a:p>
            <a:pPr algn="l">
              <a:defRPr sz="8800" b="1">
                <a:solidFill>
                  <a:srgbClr val="F2F4F8"/>
                </a:solidFill>
                <a:latin typeface="Segoe UI"/>
              </a:defRPr>
            </a:pPr>
            <a:r>
              <a:t>TRIPWIRES</a:t>
            </a:r>
          </a:p>
        </p:txBody>
      </p:sp>
      <p:sp>
        <p:nvSpPr>
          <p:cNvPr id="4" name="TextBox 3"/>
          <p:cNvSpPr txBox="1"/>
          <p:nvPr/>
        </p:nvSpPr>
        <p:spPr>
          <a:xfrm>
            <a:off x="685800" y="2606040"/>
            <a:ext cx="8686800" cy="822960"/>
          </a:xfrm>
          <a:prstGeom prst="rect">
            <a:avLst/>
          </a:prstGeom>
          <a:noFill/>
        </p:spPr>
        <p:txBody>
          <a:bodyPr wrap="square" anchor="t">
            <a:spAutoFit/>
          </a:bodyPr>
          <a:lstStyle/>
          <a:p>
            <a:pPr algn="l">
              <a:defRPr sz="4400" b="0">
                <a:solidFill>
                  <a:srgbClr val="00D4FF"/>
                </a:solidFill>
                <a:latin typeface="Segoe UI"/>
              </a:defRPr>
            </a:pPr>
            <a:r>
              <a:t>for AI Agents</a:t>
            </a:r>
          </a:p>
        </p:txBody>
      </p:sp>
      <p:sp>
        <p:nvSpPr>
          <p:cNvPr id="5" name="TextBox 4"/>
          <p:cNvSpPr txBox="1"/>
          <p:nvPr/>
        </p:nvSpPr>
        <p:spPr>
          <a:xfrm>
            <a:off x="685800" y="3520440"/>
            <a:ext cx="7863840" cy="914400"/>
          </a:xfrm>
          <a:prstGeom prst="rect">
            <a:avLst/>
          </a:prstGeom>
          <a:noFill/>
        </p:spPr>
        <p:txBody>
          <a:bodyPr wrap="square" anchor="t">
            <a:spAutoFit/>
          </a:bodyPr>
          <a:lstStyle/>
          <a:p>
            <a:pPr algn="l">
              <a:defRPr sz="1700" b="0">
                <a:solidFill>
                  <a:srgbClr val="9AA3B2"/>
                </a:solidFill>
                <a:latin typeface="Segoe UI"/>
              </a:defRPr>
            </a:pPr>
            <a:r>
              <a:t>Honeytoken intrusion detection that freezes a hijacked agent the instant it touches bait. Deception, not prompt filtering.</a:t>
            </a:r>
          </a:p>
        </p:txBody>
      </p:sp>
      <p:sp>
        <p:nvSpPr>
          <p:cNvPr id="6" name="Rounded Rectangle 5"/>
          <p:cNvSpPr/>
          <p:nvPr/>
        </p:nvSpPr>
        <p:spPr>
          <a:xfrm>
            <a:off x="640080" y="4709160"/>
            <a:ext cx="4937760" cy="1371600"/>
          </a:xfrm>
          <a:prstGeom prst="roundRect">
            <a:avLst>
              <a:gd name="adj" fmla="val 8000"/>
            </a:avLst>
          </a:prstGeom>
          <a:solidFill>
            <a:srgbClr val="13182B"/>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46320"/>
            <a:ext cx="4572000" cy="1188720"/>
          </a:xfrm>
          <a:prstGeom prst="rect">
            <a:avLst/>
          </a:prstGeom>
          <a:noFill/>
        </p:spPr>
        <p:txBody>
          <a:bodyPr wrap="square" anchor="t">
            <a:spAutoFit/>
          </a:bodyPr>
          <a:lstStyle/>
          <a:p>
            <a:pPr>
              <a:spcAft>
                <a:spcPts val="800"/>
              </a:spcAft>
              <a:defRPr b="1" sz="1400">
                <a:solidFill>
                  <a:srgbClr val="F5A524"/>
                </a:solidFill>
                <a:latin typeface="Segoe UI"/>
              </a:defRPr>
            </a:pPr>
            <a:r>
              <a:t>TRACK</a:t>
            </a:r>
          </a:p>
          <a:p>
            <a:pPr>
              <a:spcAft>
                <a:spcPts val="800"/>
              </a:spcAft>
              <a:defRPr b="0" sz="1400">
                <a:solidFill>
                  <a:srgbClr val="F2F4F8"/>
                </a:solidFill>
                <a:latin typeface="Segoe UI"/>
              </a:defRPr>
            </a:pPr>
            <a:r>
              <a:t>T.03  Cybersecurity and Web3 (AI-powered security)</a:t>
            </a:r>
          </a:p>
          <a:p>
            <a:pPr>
              <a:spcAft>
                <a:spcPts val="800"/>
              </a:spcAft>
              <a:defRPr b="0" sz="1400">
                <a:solidFill>
                  <a:srgbClr val="F2F4F8"/>
                </a:solidFill>
                <a:latin typeface="Segoe UI"/>
              </a:defRPr>
            </a:pPr>
            <a:r>
              <a:t>Team Tripwires  |  github.com/BeastAyyG/tripwires</a:t>
            </a:r>
          </a:p>
        </p:txBody>
      </p:sp>
      <p:sp>
        <p:nvSpPr>
          <p:cNvPr id="8" name="Rounded Rectangle 7"/>
          <p:cNvSpPr/>
          <p:nvPr/>
        </p:nvSpPr>
        <p:spPr>
          <a:xfrm>
            <a:off x="5943600" y="4709160"/>
            <a:ext cx="4937760" cy="1371600"/>
          </a:xfrm>
          <a:prstGeom prst="roundRect">
            <a:avLst>
              <a:gd name="adj" fmla="val 8000"/>
            </a:avLst>
          </a:prstGeom>
          <a:solidFill>
            <a:srgbClr val="13182B"/>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0" y="4846320"/>
            <a:ext cx="4572000" cy="1188720"/>
          </a:xfrm>
          <a:prstGeom prst="rect">
            <a:avLst/>
          </a:prstGeom>
          <a:noFill/>
        </p:spPr>
        <p:txBody>
          <a:bodyPr wrap="square" anchor="t">
            <a:spAutoFit/>
          </a:bodyPr>
          <a:lstStyle/>
          <a:p>
            <a:pPr>
              <a:spcAft>
                <a:spcPts val="800"/>
              </a:spcAft>
              <a:defRPr b="1" sz="1400">
                <a:solidFill>
                  <a:srgbClr val="F5A524"/>
                </a:solidFill>
                <a:latin typeface="Segoe UI"/>
              </a:defRPr>
            </a:pPr>
            <a:r>
              <a:t>STATUS</a:t>
            </a:r>
          </a:p>
          <a:p>
            <a:pPr>
              <a:spcAft>
                <a:spcPts val="800"/>
              </a:spcAft>
              <a:defRPr b="0" sz="1400">
                <a:solidFill>
                  <a:srgbClr val="F2F4F8"/>
                </a:solidFill>
                <a:latin typeface="Segoe UI"/>
              </a:defRPr>
            </a:pPr>
            <a:r>
              <a:t>Public repo, MIT licensed, 12 files. Working demo runs now: CLI plus a live animated dashboard.</a:t>
            </a:r>
          </a:p>
          <a:p>
            <a:pPr>
              <a:spcAft>
                <a:spcPts val="800"/>
              </a:spcAft>
              <a:defRPr b="0" sz="1400">
                <a:solidFill>
                  <a:srgbClr val="F2F4F8"/>
                </a:solidFill>
                <a:latin typeface="Segoe UI"/>
              </a:defRPr>
            </a:pPr>
            <a:r>
              <a:t>Demo &gt; decks: judged on a working product, and this one works.</a:t>
            </a:r>
          </a:p>
        </p:txBody>
      </p:sp>
      <p:pic>
        <p:nvPicPr>
          <p:cNvPr id="10" name="Picture 9" descr="trip_qr.png"/>
          <p:cNvPicPr>
            <a:picLocks noChangeAspect="1"/>
          </p:cNvPicPr>
          <p:nvPr/>
        </p:nvPicPr>
        <p:blipFill>
          <a:blip r:embed="rId2"/>
          <a:stretch>
            <a:fillRect/>
          </a:stretch>
        </p:blipFill>
        <p:spPr>
          <a:xfrm>
            <a:off x="10469880" y="411480"/>
            <a:ext cx="1234440" cy="1234440"/>
          </a:xfrm>
          <a:prstGeom prst="rect">
            <a:avLst/>
          </a:prstGeom>
        </p:spPr>
      </p:pic>
      <p:sp>
        <p:nvSpPr>
          <p:cNvPr id="11" name="TextBox 10"/>
          <p:cNvSpPr txBox="1"/>
          <p:nvPr/>
        </p:nvSpPr>
        <p:spPr>
          <a:xfrm>
            <a:off x="9464040" y="1691640"/>
            <a:ext cx="2286000" cy="365760"/>
          </a:xfrm>
          <a:prstGeom prst="rect">
            <a:avLst/>
          </a:prstGeom>
          <a:noFill/>
        </p:spPr>
        <p:txBody>
          <a:bodyPr wrap="square" anchor="t">
            <a:spAutoFit/>
          </a:bodyPr>
          <a:lstStyle/>
          <a:p>
            <a:pPr algn="r">
              <a:defRPr sz="1100" b="0">
                <a:solidFill>
                  <a:srgbClr val="9AA3B2"/>
                </a:solidFill>
                <a:latin typeface="Consolas"/>
              </a:defRPr>
            </a:pPr>
            <a:r>
              <a:t>SCAN: LIVE REPO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defRPr sz="1300" b="1">
                <a:solidFill>
                  <a:srgbClr val="F5A524"/>
                </a:solidFill>
                <a:latin typeface="Consolas"/>
              </a:defRPr>
            </a:pPr>
            <a:r>
              <a:t>01  |  PROBLEM + PROPOSED SOLUTION</a:t>
            </a:r>
          </a:p>
        </p:txBody>
      </p:sp>
      <p:sp>
        <p:nvSpPr>
          <p:cNvPr id="3" name="TextBox 2"/>
          <p:cNvSpPr txBox="1"/>
          <p:nvPr/>
        </p:nvSpPr>
        <p:spPr>
          <a:xfrm>
            <a:off x="548640" y="685800"/>
            <a:ext cx="11064240" cy="960120"/>
          </a:xfrm>
          <a:prstGeom prst="rect">
            <a:avLst/>
          </a:prstGeom>
          <a:noFill/>
        </p:spPr>
        <p:txBody>
          <a:bodyPr wrap="square" anchor="t">
            <a:spAutoFit/>
          </a:bodyPr>
          <a:lstStyle/>
          <a:p>
            <a:pPr algn="l">
              <a:defRPr sz="3400" b="1">
                <a:solidFill>
                  <a:srgbClr val="F2F4F8"/>
                </a:solidFill>
                <a:latin typeface="Segoe UI"/>
              </a:defRPr>
            </a:pPr>
            <a:r>
              <a:t>Prompt injection hijacks agents. Filtering loses; deception wins.</a:t>
            </a:r>
          </a:p>
        </p:txBody>
      </p:sp>
      <p:sp>
        <p:nvSpPr>
          <p:cNvPr id="4" name="Rectangle 3"/>
          <p:cNvSpPr/>
          <p:nvPr/>
        </p:nvSpPr>
        <p:spPr>
          <a:xfrm>
            <a:off x="548640" y="1682496"/>
            <a:ext cx="822960" cy="54864"/>
          </a:xfrm>
          <a:prstGeom prst="rect">
            <a:avLst/>
          </a:prstGeom>
          <a:solidFill>
            <a:srgbClr val="F5A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01368"/>
            <a:ext cx="11064240" cy="502920"/>
          </a:xfrm>
          <a:prstGeom prst="rect">
            <a:avLst/>
          </a:prstGeom>
          <a:noFill/>
        </p:spPr>
        <p:txBody>
          <a:bodyPr wrap="square" anchor="t">
            <a:spAutoFit/>
          </a:bodyPr>
          <a:lstStyle/>
          <a:p>
            <a:pPr algn="l">
              <a:defRPr sz="1500" b="0">
                <a:solidFill>
                  <a:srgbClr val="9AA3B2"/>
                </a:solidFill>
                <a:latin typeface="Segoe UI"/>
              </a:defRPr>
            </a:pPr>
            <a:r>
              <a:t>Agents read untrusted content and hold real tool access (email, files, commands). One injected line turns a helpful agent into an insider threat.</a:t>
            </a:r>
          </a:p>
        </p:txBody>
      </p:sp>
      <p:sp>
        <p:nvSpPr>
          <p:cNvPr id="6" name="Rounded Rectangle 5"/>
          <p:cNvSpPr/>
          <p:nvPr/>
        </p:nvSpPr>
        <p:spPr>
          <a:xfrm>
            <a:off x="548640" y="2514600"/>
            <a:ext cx="2606040" cy="182880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697480"/>
            <a:ext cx="2194560" cy="457200"/>
          </a:xfrm>
          <a:prstGeom prst="rect">
            <a:avLst/>
          </a:prstGeom>
          <a:noFill/>
        </p:spPr>
        <p:txBody>
          <a:bodyPr wrap="square" anchor="t">
            <a:spAutoFit/>
          </a:bodyPr>
          <a:lstStyle/>
          <a:p>
            <a:pPr algn="l">
              <a:defRPr sz="1400" b="1">
                <a:solidFill>
                  <a:srgbClr val="F04452"/>
                </a:solidFill>
                <a:latin typeface="Segoe UI"/>
              </a:defRPr>
            </a:pPr>
            <a:r>
              <a:t>Prompt injection is the #1 risk</a:t>
            </a:r>
          </a:p>
        </p:txBody>
      </p:sp>
      <p:sp>
        <p:nvSpPr>
          <p:cNvPr id="8" name="TextBox 7"/>
          <p:cNvSpPr txBox="1"/>
          <p:nvPr/>
        </p:nvSpPr>
        <p:spPr>
          <a:xfrm>
            <a:off x="777240" y="3154680"/>
            <a:ext cx="2194560" cy="1097280"/>
          </a:xfrm>
          <a:prstGeom prst="rect">
            <a:avLst/>
          </a:prstGeom>
          <a:noFill/>
        </p:spPr>
        <p:txBody>
          <a:bodyPr wrap="square" anchor="t">
            <a:spAutoFit/>
          </a:bodyPr>
          <a:lstStyle/>
          <a:p>
            <a:pPr algn="l">
              <a:defRPr sz="1300" b="0">
                <a:solidFill>
                  <a:srgbClr val="9AA3B2"/>
                </a:solidFill>
                <a:latin typeface="Segoe UI"/>
              </a:defRPr>
            </a:pPr>
            <a:r>
              <a:t>for AI apps (OWASP LLM01). Every agent that reads email, web or docs is exposed.</a:t>
            </a:r>
          </a:p>
        </p:txBody>
      </p:sp>
      <p:sp>
        <p:nvSpPr>
          <p:cNvPr id="9" name="Rounded Rectangle 8"/>
          <p:cNvSpPr/>
          <p:nvPr/>
        </p:nvSpPr>
        <p:spPr>
          <a:xfrm>
            <a:off x="3337560" y="2514600"/>
            <a:ext cx="2606040" cy="182880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697480"/>
            <a:ext cx="2194560" cy="457200"/>
          </a:xfrm>
          <a:prstGeom prst="rect">
            <a:avLst/>
          </a:prstGeom>
          <a:noFill/>
        </p:spPr>
        <p:txBody>
          <a:bodyPr wrap="square" anchor="t">
            <a:spAutoFit/>
          </a:bodyPr>
          <a:lstStyle/>
          <a:p>
            <a:pPr algn="l">
              <a:defRPr sz="1400" b="1">
                <a:solidFill>
                  <a:srgbClr val="F04452"/>
                </a:solidFill>
                <a:latin typeface="Segoe UI"/>
              </a:defRPr>
            </a:pPr>
            <a:r>
              <a:t>Agents have real permissions</a:t>
            </a:r>
          </a:p>
        </p:txBody>
      </p:sp>
      <p:sp>
        <p:nvSpPr>
          <p:cNvPr id="11" name="TextBox 10"/>
          <p:cNvSpPr txBox="1"/>
          <p:nvPr/>
        </p:nvSpPr>
        <p:spPr>
          <a:xfrm>
            <a:off x="3566160" y="3154680"/>
            <a:ext cx="2194560" cy="1097280"/>
          </a:xfrm>
          <a:prstGeom prst="rect">
            <a:avLst/>
          </a:prstGeom>
          <a:noFill/>
        </p:spPr>
        <p:txBody>
          <a:bodyPr wrap="square" anchor="t">
            <a:spAutoFit/>
          </a:bodyPr>
          <a:lstStyle/>
          <a:p>
            <a:pPr algn="l">
              <a:defRPr sz="1300" b="0">
                <a:solidFill>
                  <a:srgbClr val="9AA3B2"/>
                </a:solidFill>
                <a:latin typeface="Segoe UI"/>
              </a:defRPr>
            </a:pPr>
            <a:r>
              <a:t>files, inboxes, APIs, shell. A hijack is not a bad answer, it is a data breach.</a:t>
            </a:r>
          </a:p>
        </p:txBody>
      </p:sp>
      <p:sp>
        <p:nvSpPr>
          <p:cNvPr id="12" name="Rounded Rectangle 11"/>
          <p:cNvSpPr/>
          <p:nvPr/>
        </p:nvSpPr>
        <p:spPr>
          <a:xfrm>
            <a:off x="6126479" y="2514600"/>
            <a:ext cx="2606040" cy="182880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2697480"/>
            <a:ext cx="2194560" cy="457200"/>
          </a:xfrm>
          <a:prstGeom prst="rect">
            <a:avLst/>
          </a:prstGeom>
          <a:noFill/>
        </p:spPr>
        <p:txBody>
          <a:bodyPr wrap="square" anchor="t">
            <a:spAutoFit/>
          </a:bodyPr>
          <a:lstStyle/>
          <a:p>
            <a:pPr algn="l">
              <a:defRPr sz="1400" b="1">
                <a:solidFill>
                  <a:srgbClr val="F04452"/>
                </a:solidFill>
                <a:latin typeface="Segoe UI"/>
              </a:defRPr>
            </a:pPr>
            <a:r>
              <a:t>Prompt filtering is an arms race</a:t>
            </a:r>
          </a:p>
        </p:txBody>
      </p:sp>
      <p:sp>
        <p:nvSpPr>
          <p:cNvPr id="14" name="TextBox 13"/>
          <p:cNvSpPr txBox="1"/>
          <p:nvPr/>
        </p:nvSpPr>
        <p:spPr>
          <a:xfrm>
            <a:off x="6355079" y="3154680"/>
            <a:ext cx="2194560" cy="1097280"/>
          </a:xfrm>
          <a:prstGeom prst="rect">
            <a:avLst/>
          </a:prstGeom>
          <a:noFill/>
        </p:spPr>
        <p:txBody>
          <a:bodyPr wrap="square" anchor="t">
            <a:spAutoFit/>
          </a:bodyPr>
          <a:lstStyle/>
          <a:p>
            <a:pPr algn="l">
              <a:defRPr sz="1300" b="0">
                <a:solidFill>
                  <a:srgbClr val="9AA3B2"/>
                </a:solidFill>
                <a:latin typeface="Segoe UI"/>
              </a:defRPr>
            </a:pPr>
            <a:r>
              <a:t>attackers rephrase, obfuscate and hide instructions. Filters chase phrasing forever.</a:t>
            </a:r>
          </a:p>
        </p:txBody>
      </p:sp>
      <p:sp>
        <p:nvSpPr>
          <p:cNvPr id="15" name="Rounded Rectangle 14"/>
          <p:cNvSpPr/>
          <p:nvPr/>
        </p:nvSpPr>
        <p:spPr>
          <a:xfrm>
            <a:off x="8915399" y="2514600"/>
            <a:ext cx="2606040" cy="182880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3999" y="2697480"/>
            <a:ext cx="2194560" cy="457200"/>
          </a:xfrm>
          <a:prstGeom prst="rect">
            <a:avLst/>
          </a:prstGeom>
          <a:noFill/>
        </p:spPr>
        <p:txBody>
          <a:bodyPr wrap="square" anchor="t">
            <a:spAutoFit/>
          </a:bodyPr>
          <a:lstStyle/>
          <a:p>
            <a:pPr algn="l">
              <a:defRPr sz="1400" b="1">
                <a:solidFill>
                  <a:srgbClr val="F04452"/>
                </a:solidFill>
                <a:latin typeface="Segoe UI"/>
              </a:defRPr>
            </a:pPr>
            <a:r>
              <a:t>Detection must not depend on wording</a:t>
            </a:r>
          </a:p>
        </p:txBody>
      </p:sp>
      <p:sp>
        <p:nvSpPr>
          <p:cNvPr id="17" name="TextBox 16"/>
          <p:cNvSpPr txBox="1"/>
          <p:nvPr/>
        </p:nvSpPr>
        <p:spPr>
          <a:xfrm>
            <a:off x="9143999" y="3154680"/>
            <a:ext cx="2194560" cy="1097280"/>
          </a:xfrm>
          <a:prstGeom prst="rect">
            <a:avLst/>
          </a:prstGeom>
          <a:noFill/>
        </p:spPr>
        <p:txBody>
          <a:bodyPr wrap="square" anchor="t">
            <a:spAutoFit/>
          </a:bodyPr>
          <a:lstStyle/>
          <a:p>
            <a:pPr algn="l">
              <a:defRPr sz="1300" b="0">
                <a:solidFill>
                  <a:srgbClr val="9AA3B2"/>
                </a:solidFill>
                <a:latin typeface="Segoe UI"/>
              </a:defRPr>
            </a:pPr>
            <a:r>
              <a:t>whatever the injection says, the attacker still needs the agent to touch something valuable.</a:t>
            </a:r>
          </a:p>
        </p:txBody>
      </p:sp>
      <p:sp>
        <p:nvSpPr>
          <p:cNvPr id="18" name="Rounded Rectangle 17"/>
          <p:cNvSpPr/>
          <p:nvPr/>
        </p:nvSpPr>
        <p:spPr>
          <a:xfrm>
            <a:off x="548640" y="4572000"/>
            <a:ext cx="11091672" cy="1737360"/>
          </a:xfrm>
          <a:prstGeom prst="roundRect">
            <a:avLst>
              <a:gd name="adj" fmla="val 8000"/>
            </a:avLst>
          </a:prstGeom>
          <a:solidFill>
            <a:srgbClr val="13182B"/>
          </a:solidFill>
          <a:ln w="12700">
            <a:solidFill>
              <a:srgbClr val="F5A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754880"/>
            <a:ext cx="10515600" cy="1463040"/>
          </a:xfrm>
          <a:prstGeom prst="rect">
            <a:avLst/>
          </a:prstGeom>
          <a:noFill/>
        </p:spPr>
        <p:txBody>
          <a:bodyPr wrap="square" anchor="t">
            <a:spAutoFit/>
          </a:bodyPr>
          <a:lstStyle/>
          <a:p>
            <a:pPr>
              <a:spcAft>
                <a:spcPts val="800"/>
              </a:spcAft>
              <a:defRPr b="1" sz="1400">
                <a:solidFill>
                  <a:srgbClr val="F5A524"/>
                </a:solidFill>
                <a:latin typeface="Segoe UI"/>
              </a:defRPr>
            </a:pPr>
            <a:r>
              <a:t>THE TRIPWIRE IDEA</a:t>
            </a:r>
          </a:p>
          <a:p>
            <a:pPr>
              <a:spcAft>
                <a:spcPts val="800"/>
              </a:spcAft>
              <a:defRPr b="0" sz="1400">
                <a:solidFill>
                  <a:srgbClr val="F2F4F8"/>
                </a:solidFill>
                <a:latin typeface="Segoe UI"/>
              </a:defRPr>
            </a:pPr>
            <a:r>
              <a:t>Plant honeytokens a legitimate agent should never touch: fake API keys, decoy credential files, canary URLs, bait instructions. A synchronous proxy checks every tool call against the token registry BEFORE it executes. Contact with token material means the agent is compromised, so the engine freezes it instantly and emits an alert with the full evidence chain.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defRPr sz="1300" b="1">
                <a:solidFill>
                  <a:srgbClr val="F5A524"/>
                </a:solidFill>
                <a:latin typeface="Consolas"/>
              </a:defRPr>
            </a:pPr>
            <a:r>
              <a:t>02  |  TECHNICAL APPROACH</a:t>
            </a:r>
          </a:p>
        </p:txBody>
      </p:sp>
      <p:sp>
        <p:nvSpPr>
          <p:cNvPr id="3" name="TextBox 2"/>
          <p:cNvSpPr txBox="1"/>
          <p:nvPr/>
        </p:nvSpPr>
        <p:spPr>
          <a:xfrm>
            <a:off x="548640" y="685800"/>
            <a:ext cx="11064240" cy="960120"/>
          </a:xfrm>
          <a:prstGeom prst="rect">
            <a:avLst/>
          </a:prstGeom>
          <a:noFill/>
        </p:spPr>
        <p:txBody>
          <a:bodyPr wrap="square" anchor="t">
            <a:spAutoFit/>
          </a:bodyPr>
          <a:lstStyle/>
          <a:p>
            <a:pPr algn="l">
              <a:defRPr sz="3400" b="1">
                <a:solidFill>
                  <a:srgbClr val="F2F4F8"/>
                </a:solidFill>
                <a:latin typeface="Segoe UI"/>
              </a:defRPr>
            </a:pPr>
            <a:r>
              <a:t>A synchronous action proxy over a scripted agent, with real interception logic.</a:t>
            </a:r>
          </a:p>
        </p:txBody>
      </p:sp>
      <p:sp>
        <p:nvSpPr>
          <p:cNvPr id="4" name="Rectangle 3"/>
          <p:cNvSpPr/>
          <p:nvPr/>
        </p:nvSpPr>
        <p:spPr>
          <a:xfrm>
            <a:off x="548640" y="1682496"/>
            <a:ext cx="822960" cy="54864"/>
          </a:xfrm>
          <a:prstGeom prst="rect">
            <a:avLst/>
          </a:prstGeom>
          <a:solidFill>
            <a:srgbClr val="F5A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01368"/>
            <a:ext cx="11064240" cy="502920"/>
          </a:xfrm>
          <a:prstGeom prst="rect">
            <a:avLst/>
          </a:prstGeom>
          <a:noFill/>
        </p:spPr>
        <p:txBody>
          <a:bodyPr wrap="square" anchor="t">
            <a:spAutoFit/>
          </a:bodyPr>
          <a:lstStyle/>
          <a:p>
            <a:pPr algn="l">
              <a:defRPr sz="1500" b="0">
                <a:solidFill>
                  <a:srgbClr val="9AA3B2"/>
                </a:solidFill>
                <a:latin typeface="Segoe UI"/>
              </a:defRPr>
            </a:pPr>
            <a:r>
              <a:t>The agent brain is a scripted policy (an honest stand-in for any LLM). Token planting, registry checks, freeze and alerts are real code, reimplemented in JS for the dashboard.</a:t>
            </a:r>
          </a:p>
        </p:txBody>
      </p:sp>
      <p:sp>
        <p:nvSpPr>
          <p:cNvPr id="6" name="Rounded Rectangle 5"/>
          <p:cNvSpPr/>
          <p:nvPr/>
        </p:nvSpPr>
        <p:spPr>
          <a:xfrm>
            <a:off x="548640" y="2468880"/>
            <a:ext cx="3520440" cy="17373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78608"/>
            <a:ext cx="3108960" cy="320040"/>
          </a:xfrm>
          <a:prstGeom prst="rect">
            <a:avLst/>
          </a:prstGeom>
          <a:noFill/>
        </p:spPr>
        <p:txBody>
          <a:bodyPr wrap="square" anchor="t">
            <a:spAutoFit/>
          </a:bodyPr>
          <a:lstStyle/>
          <a:p>
            <a:pPr algn="l">
              <a:defRPr sz="1300" b="1">
                <a:solidFill>
                  <a:srgbClr val="00D4FF"/>
                </a:solidFill>
                <a:latin typeface="Consolas"/>
              </a:defRPr>
            </a:pPr>
            <a:r>
              <a:t>tokens.py</a:t>
            </a:r>
          </a:p>
        </p:txBody>
      </p:sp>
      <p:sp>
        <p:nvSpPr>
          <p:cNvPr id="8" name="TextBox 7"/>
          <p:cNvSpPr txBox="1"/>
          <p:nvPr/>
        </p:nvSpPr>
        <p:spPr>
          <a:xfrm>
            <a:off x="777240" y="2926080"/>
            <a:ext cx="3108960" cy="292608"/>
          </a:xfrm>
          <a:prstGeom prst="rect">
            <a:avLst/>
          </a:prstGeom>
          <a:noFill/>
        </p:spPr>
        <p:txBody>
          <a:bodyPr wrap="square" anchor="t">
            <a:spAutoFit/>
          </a:bodyPr>
          <a:lstStyle/>
          <a:p>
            <a:pPr algn="l">
              <a:defRPr sz="1250" b="1">
                <a:solidFill>
                  <a:srgbClr val="F5A524"/>
                </a:solidFill>
                <a:latin typeface="Segoe UI"/>
              </a:defRPr>
            </a:pPr>
            <a:r>
              <a:t>Honeytoken generator</a:t>
            </a:r>
          </a:p>
        </p:txBody>
      </p:sp>
      <p:sp>
        <p:nvSpPr>
          <p:cNvPr id="9" name="TextBox 8"/>
          <p:cNvSpPr txBox="1"/>
          <p:nvPr/>
        </p:nvSpPr>
        <p:spPr>
          <a:xfrm>
            <a:off x="777240" y="3246120"/>
            <a:ext cx="3108960" cy="914400"/>
          </a:xfrm>
          <a:prstGeom prst="rect">
            <a:avLst/>
          </a:prstGeom>
          <a:noFill/>
        </p:spPr>
        <p:txBody>
          <a:bodyPr wrap="square" anchor="t">
            <a:spAutoFit/>
          </a:bodyPr>
          <a:lstStyle/>
          <a:p>
            <a:pPr algn="l">
              <a:defRPr sz="1150" b="0">
                <a:solidFill>
                  <a:srgbClr val="9AA3B2"/>
                </a:solidFill>
                <a:latin typeface="Segoe UI"/>
              </a:defRPr>
            </a:pPr>
            <a:r>
              <a:t>Fake Stripe/AWS keys, decoy files (/vault/admin_passwords.txt, ~/.secrets.env), canary URLs, bait instructions. Each token gets a unique id mapped to type, location, severity.</a:t>
            </a:r>
          </a:p>
        </p:txBody>
      </p:sp>
      <p:sp>
        <p:nvSpPr>
          <p:cNvPr id="10" name="Rounded Rectangle 9"/>
          <p:cNvSpPr/>
          <p:nvPr/>
        </p:nvSpPr>
        <p:spPr>
          <a:xfrm>
            <a:off x="4251959" y="2468880"/>
            <a:ext cx="3520440" cy="17373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578608"/>
            <a:ext cx="3108960" cy="320040"/>
          </a:xfrm>
          <a:prstGeom prst="rect">
            <a:avLst/>
          </a:prstGeom>
          <a:noFill/>
        </p:spPr>
        <p:txBody>
          <a:bodyPr wrap="square" anchor="t">
            <a:spAutoFit/>
          </a:bodyPr>
          <a:lstStyle/>
          <a:p>
            <a:pPr algn="l">
              <a:defRPr sz="1300" b="1">
                <a:solidFill>
                  <a:srgbClr val="00D4FF"/>
                </a:solidFill>
                <a:latin typeface="Consolas"/>
              </a:defRPr>
            </a:pPr>
            <a:r>
              <a:t>proxy.py</a:t>
            </a:r>
          </a:p>
        </p:txBody>
      </p:sp>
      <p:sp>
        <p:nvSpPr>
          <p:cNvPr id="12" name="TextBox 11"/>
          <p:cNvSpPr txBox="1"/>
          <p:nvPr/>
        </p:nvSpPr>
        <p:spPr>
          <a:xfrm>
            <a:off x="4480559" y="2926080"/>
            <a:ext cx="3108960" cy="292608"/>
          </a:xfrm>
          <a:prstGeom prst="rect">
            <a:avLst/>
          </a:prstGeom>
          <a:noFill/>
        </p:spPr>
        <p:txBody>
          <a:bodyPr wrap="square" anchor="t">
            <a:spAutoFit/>
          </a:bodyPr>
          <a:lstStyle/>
          <a:p>
            <a:pPr algn="l">
              <a:defRPr sz="1250" b="1">
                <a:solidFill>
                  <a:srgbClr val="F5A524"/>
                </a:solidFill>
                <a:latin typeface="Segoe UI"/>
              </a:defRPr>
            </a:pPr>
            <a:r>
              <a:t>Action monitor</a:t>
            </a:r>
          </a:p>
        </p:txBody>
      </p:sp>
      <p:sp>
        <p:nvSpPr>
          <p:cNvPr id="13" name="TextBox 12"/>
          <p:cNvSpPr txBox="1"/>
          <p:nvPr/>
        </p:nvSpPr>
        <p:spPr>
          <a:xfrm>
            <a:off x="4480559" y="3246120"/>
            <a:ext cx="3108960" cy="914400"/>
          </a:xfrm>
          <a:prstGeom prst="rect">
            <a:avLst/>
          </a:prstGeom>
          <a:noFill/>
        </p:spPr>
        <p:txBody>
          <a:bodyPr wrap="square" anchor="t">
            <a:spAutoFit/>
          </a:bodyPr>
          <a:lstStyle/>
          <a:p>
            <a:pPr algn="l">
              <a:defRPr sz="1150" b="0">
                <a:solidFill>
                  <a:srgbClr val="9AA3B2"/>
                </a:solidFill>
                <a:latin typeface="Segoe UI"/>
              </a:defRPr>
            </a:pPr>
            <a:r>
              <a:t>Every tool call is logged and checked against the registry synchronously. Decoy reads, token reuse, canary fetches and bait-following return DENY and never execute.</a:t>
            </a:r>
          </a:p>
        </p:txBody>
      </p:sp>
      <p:sp>
        <p:nvSpPr>
          <p:cNvPr id="14" name="Rounded Rectangle 13"/>
          <p:cNvSpPr/>
          <p:nvPr/>
        </p:nvSpPr>
        <p:spPr>
          <a:xfrm>
            <a:off x="7955279" y="2468880"/>
            <a:ext cx="3520440" cy="17373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578608"/>
            <a:ext cx="3108960" cy="320040"/>
          </a:xfrm>
          <a:prstGeom prst="rect">
            <a:avLst/>
          </a:prstGeom>
          <a:noFill/>
        </p:spPr>
        <p:txBody>
          <a:bodyPr wrap="square" anchor="t">
            <a:spAutoFit/>
          </a:bodyPr>
          <a:lstStyle/>
          <a:p>
            <a:pPr algn="l">
              <a:defRPr sz="1300" b="1">
                <a:solidFill>
                  <a:srgbClr val="00D4FF"/>
                </a:solidFill>
                <a:latin typeface="Consolas"/>
              </a:defRPr>
            </a:pPr>
            <a:r>
              <a:t>engine.py</a:t>
            </a:r>
          </a:p>
        </p:txBody>
      </p:sp>
      <p:sp>
        <p:nvSpPr>
          <p:cNvPr id="16" name="TextBox 15"/>
          <p:cNvSpPr txBox="1"/>
          <p:nvPr/>
        </p:nvSpPr>
        <p:spPr>
          <a:xfrm>
            <a:off x="8183879" y="2926080"/>
            <a:ext cx="3108960" cy="292608"/>
          </a:xfrm>
          <a:prstGeom prst="rect">
            <a:avLst/>
          </a:prstGeom>
          <a:noFill/>
        </p:spPr>
        <p:txBody>
          <a:bodyPr wrap="square" anchor="t">
            <a:spAutoFit/>
          </a:bodyPr>
          <a:lstStyle/>
          <a:p>
            <a:pPr algn="l">
              <a:defRPr sz="1250" b="1">
                <a:solidFill>
                  <a:srgbClr val="F5A524"/>
                </a:solidFill>
                <a:latin typeface="Segoe UI"/>
              </a:defRPr>
            </a:pPr>
            <a:r>
              <a:t>Tripwire engine</a:t>
            </a:r>
          </a:p>
        </p:txBody>
      </p:sp>
      <p:sp>
        <p:nvSpPr>
          <p:cNvPr id="17" name="TextBox 16"/>
          <p:cNvSpPr txBox="1"/>
          <p:nvPr/>
        </p:nvSpPr>
        <p:spPr>
          <a:xfrm>
            <a:off x="8183879" y="3246120"/>
            <a:ext cx="3108960" cy="914400"/>
          </a:xfrm>
          <a:prstGeom prst="rect">
            <a:avLst/>
          </a:prstGeom>
          <a:noFill/>
        </p:spPr>
        <p:txBody>
          <a:bodyPr wrap="square" anchor="t">
            <a:spAutoFit/>
          </a:bodyPr>
          <a:lstStyle/>
          <a:p>
            <a:pPr algn="l">
              <a:defRPr sz="1150" b="0">
                <a:solidFill>
                  <a:srgbClr val="9AA3B2"/>
                </a:solidFill>
                <a:latin typeface="Segoe UI"/>
              </a:defRPr>
            </a:pPr>
            <a:r>
              <a:t>On a trip, the agent is frozen instantly (all later calls denied) and a structured alert fires with the evidence chain: injection source, token touched, action attempted.</a:t>
            </a:r>
          </a:p>
        </p:txBody>
      </p:sp>
      <p:sp>
        <p:nvSpPr>
          <p:cNvPr id="18" name="Rounded Rectangle 17"/>
          <p:cNvSpPr/>
          <p:nvPr/>
        </p:nvSpPr>
        <p:spPr>
          <a:xfrm>
            <a:off x="548640" y="4297680"/>
            <a:ext cx="3520440" cy="17373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07408"/>
            <a:ext cx="3108960" cy="320040"/>
          </a:xfrm>
          <a:prstGeom prst="rect">
            <a:avLst/>
          </a:prstGeom>
          <a:noFill/>
        </p:spPr>
        <p:txBody>
          <a:bodyPr wrap="square" anchor="t">
            <a:spAutoFit/>
          </a:bodyPr>
          <a:lstStyle/>
          <a:p>
            <a:pPr algn="l">
              <a:defRPr sz="1300" b="1">
                <a:solidFill>
                  <a:srgbClr val="00D4FF"/>
                </a:solidFill>
                <a:latin typeface="Consolas"/>
              </a:defRPr>
            </a:pPr>
            <a:r>
              <a:t>sandbox.py</a:t>
            </a:r>
          </a:p>
        </p:txBody>
      </p:sp>
      <p:sp>
        <p:nvSpPr>
          <p:cNvPr id="20" name="TextBox 19"/>
          <p:cNvSpPr txBox="1"/>
          <p:nvPr/>
        </p:nvSpPr>
        <p:spPr>
          <a:xfrm>
            <a:off x="777240" y="4754880"/>
            <a:ext cx="3108960" cy="292608"/>
          </a:xfrm>
          <a:prstGeom prst="rect">
            <a:avLst/>
          </a:prstGeom>
          <a:noFill/>
        </p:spPr>
        <p:txBody>
          <a:bodyPr wrap="square" anchor="t">
            <a:spAutoFit/>
          </a:bodyPr>
          <a:lstStyle/>
          <a:p>
            <a:pPr algn="l">
              <a:defRPr sz="1250" b="1">
                <a:solidFill>
                  <a:srgbClr val="F5A524"/>
                </a:solidFill>
                <a:latin typeface="Segoe UI"/>
              </a:defRPr>
            </a:pPr>
            <a:r>
              <a:t>Fake environment</a:t>
            </a:r>
          </a:p>
        </p:txBody>
      </p:sp>
      <p:sp>
        <p:nvSpPr>
          <p:cNvPr id="21" name="TextBox 20"/>
          <p:cNvSpPr txBox="1"/>
          <p:nvPr/>
        </p:nvSpPr>
        <p:spPr>
          <a:xfrm>
            <a:off x="777240" y="5074920"/>
            <a:ext cx="3108960" cy="914400"/>
          </a:xfrm>
          <a:prstGeom prst="rect">
            <a:avLst/>
          </a:prstGeom>
          <a:noFill/>
        </p:spPr>
        <p:txBody>
          <a:bodyPr wrap="square" anchor="t">
            <a:spAutoFit/>
          </a:bodyPr>
          <a:lstStyle/>
          <a:p>
            <a:pPr algn="l">
              <a:defRPr sz="1150" b="0">
                <a:solidFill>
                  <a:srgbClr val="9AA3B2"/>
                </a:solidFill>
                <a:latin typeface="Segoe UI"/>
              </a:defRPr>
            </a:pPr>
            <a:r>
              <a:t>In-memory filesystem, inbox, web pages (one with hidden bait in an HTML comment and a white-on-white div), credential vault, fake tools. Nothing real is ever touched.</a:t>
            </a:r>
          </a:p>
        </p:txBody>
      </p:sp>
      <p:sp>
        <p:nvSpPr>
          <p:cNvPr id="22" name="Rounded Rectangle 21"/>
          <p:cNvSpPr/>
          <p:nvPr/>
        </p:nvSpPr>
        <p:spPr>
          <a:xfrm>
            <a:off x="4251959" y="4297680"/>
            <a:ext cx="3520440" cy="17373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59" y="4407408"/>
            <a:ext cx="3108960" cy="320040"/>
          </a:xfrm>
          <a:prstGeom prst="rect">
            <a:avLst/>
          </a:prstGeom>
          <a:noFill/>
        </p:spPr>
        <p:txBody>
          <a:bodyPr wrap="square" anchor="t">
            <a:spAutoFit/>
          </a:bodyPr>
          <a:lstStyle/>
          <a:p>
            <a:pPr algn="l">
              <a:defRPr sz="1300" b="1">
                <a:solidFill>
                  <a:srgbClr val="00D4FF"/>
                </a:solidFill>
                <a:latin typeface="Consolas"/>
              </a:defRPr>
            </a:pPr>
            <a:r>
              <a:t>agent.py</a:t>
            </a:r>
          </a:p>
        </p:txBody>
      </p:sp>
      <p:sp>
        <p:nvSpPr>
          <p:cNvPr id="24" name="TextBox 23"/>
          <p:cNvSpPr txBox="1"/>
          <p:nvPr/>
        </p:nvSpPr>
        <p:spPr>
          <a:xfrm>
            <a:off x="4480559" y="4754880"/>
            <a:ext cx="3108960" cy="292608"/>
          </a:xfrm>
          <a:prstGeom prst="rect">
            <a:avLst/>
          </a:prstGeom>
          <a:noFill/>
        </p:spPr>
        <p:txBody>
          <a:bodyPr wrap="square" anchor="t">
            <a:spAutoFit/>
          </a:bodyPr>
          <a:lstStyle/>
          <a:p>
            <a:pPr algn="l">
              <a:defRPr sz="1250" b="1">
                <a:solidFill>
                  <a:srgbClr val="F5A524"/>
                </a:solidFill>
                <a:latin typeface="Segoe UI"/>
              </a:defRPr>
            </a:pPr>
            <a:r>
              <a:t>ReAct loop</a:t>
            </a:r>
          </a:p>
        </p:txBody>
      </p:sp>
      <p:sp>
        <p:nvSpPr>
          <p:cNvPr id="25" name="TextBox 24"/>
          <p:cNvSpPr txBox="1"/>
          <p:nvPr/>
        </p:nvSpPr>
        <p:spPr>
          <a:xfrm>
            <a:off x="4480559" y="5074920"/>
            <a:ext cx="3108960" cy="914400"/>
          </a:xfrm>
          <a:prstGeom prst="rect">
            <a:avLst/>
          </a:prstGeom>
          <a:noFill/>
        </p:spPr>
        <p:txBody>
          <a:bodyPr wrap="square" anchor="t">
            <a:spAutoFit/>
          </a:bodyPr>
          <a:lstStyle/>
          <a:p>
            <a:pPr algn="l">
              <a:defRPr sz="1150" b="0">
                <a:solidFill>
                  <a:srgbClr val="9AA3B2"/>
                </a:solidFill>
                <a:latin typeface="Segoe UI"/>
              </a:defRPr>
            </a:pPr>
            <a:r>
              <a:t>Pluggable policies: BenignPolicy finishes cleanly; InjectedPolicy parses the injected instruction and follows it, which is exactly what trips the wire.</a:t>
            </a:r>
          </a:p>
        </p:txBody>
      </p:sp>
      <p:sp>
        <p:nvSpPr>
          <p:cNvPr id="26" name="Rounded Rectangle 25"/>
          <p:cNvSpPr/>
          <p:nvPr/>
        </p:nvSpPr>
        <p:spPr>
          <a:xfrm>
            <a:off x="7955279" y="4297680"/>
            <a:ext cx="3520440" cy="17373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3879" y="4407408"/>
            <a:ext cx="3108960" cy="320040"/>
          </a:xfrm>
          <a:prstGeom prst="rect">
            <a:avLst/>
          </a:prstGeom>
          <a:noFill/>
        </p:spPr>
        <p:txBody>
          <a:bodyPr wrap="square" anchor="t">
            <a:spAutoFit/>
          </a:bodyPr>
          <a:lstStyle/>
          <a:p>
            <a:pPr algn="l">
              <a:defRPr sz="1300" b="1">
                <a:solidFill>
                  <a:srgbClr val="00D4FF"/>
                </a:solidFill>
                <a:latin typeface="Consolas"/>
              </a:defRPr>
            </a:pPr>
            <a:r>
              <a:t>dashboard.html</a:t>
            </a:r>
          </a:p>
        </p:txBody>
      </p:sp>
      <p:sp>
        <p:nvSpPr>
          <p:cNvPr id="28" name="TextBox 27"/>
          <p:cNvSpPr txBox="1"/>
          <p:nvPr/>
        </p:nvSpPr>
        <p:spPr>
          <a:xfrm>
            <a:off x="8183879" y="4754880"/>
            <a:ext cx="3108960" cy="292608"/>
          </a:xfrm>
          <a:prstGeom prst="rect">
            <a:avLst/>
          </a:prstGeom>
          <a:noFill/>
        </p:spPr>
        <p:txBody>
          <a:bodyPr wrap="square" anchor="t">
            <a:spAutoFit/>
          </a:bodyPr>
          <a:lstStyle/>
          <a:p>
            <a:pPr algn="l">
              <a:defRPr sz="1250" b="1">
                <a:solidFill>
                  <a:srgbClr val="F5A524"/>
                </a:solidFill>
                <a:latin typeface="Segoe UI"/>
              </a:defRPr>
            </a:pPr>
            <a:r>
              <a:t>Live demo</a:t>
            </a:r>
          </a:p>
        </p:txBody>
      </p:sp>
      <p:sp>
        <p:nvSpPr>
          <p:cNvPr id="29" name="TextBox 28"/>
          <p:cNvSpPr txBox="1"/>
          <p:nvPr/>
        </p:nvSpPr>
        <p:spPr>
          <a:xfrm>
            <a:off x="8183879" y="5074920"/>
            <a:ext cx="3108960" cy="914400"/>
          </a:xfrm>
          <a:prstGeom prst="rect">
            <a:avLst/>
          </a:prstGeom>
          <a:noFill/>
        </p:spPr>
        <p:txBody>
          <a:bodyPr wrap="square" anchor="t">
            <a:spAutoFit/>
          </a:bodyPr>
          <a:lstStyle/>
          <a:p>
            <a:pPr algn="l">
              <a:defRPr sz="1150" b="0">
                <a:solidFill>
                  <a:srgbClr val="9AA3B2"/>
                </a:solidFill>
                <a:latin typeface="Segoe UI"/>
              </a:defRPr>
            </a:pPr>
            <a:r>
              <a:t>Single-file animated dashboard. Same interception logic reimplemented in JavaScript, runs fully in the browser.</a:t>
            </a:r>
          </a:p>
        </p:txBody>
      </p:sp>
      <p:sp>
        <p:nvSpPr>
          <p:cNvPr id="30" name="TextBox 29"/>
          <p:cNvSpPr txBox="1"/>
          <p:nvPr/>
        </p:nvSpPr>
        <p:spPr>
          <a:xfrm>
            <a:off x="548640" y="6263640"/>
            <a:ext cx="11091672" cy="411480"/>
          </a:xfrm>
          <a:prstGeom prst="rect">
            <a:avLst/>
          </a:prstGeom>
          <a:noFill/>
        </p:spPr>
        <p:txBody>
          <a:bodyPr wrap="square" anchor="t">
            <a:spAutoFit/>
          </a:bodyPr>
          <a:lstStyle/>
          <a:p>
            <a:pPr algn="ctr">
              <a:defRPr sz="1250" b="0">
                <a:solidFill>
                  <a:srgbClr val="9AA3B2"/>
                </a:solidFill>
                <a:latin typeface="Consolas"/>
              </a:defRPr>
            </a:pPr>
            <a:r>
              <a:t>TECH STACK:  Python 3  |  zero dependencies  |  single-file dashboard  |  model-agnostic proxy  |  MIT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defRPr sz="1300" b="1">
                <a:solidFill>
                  <a:srgbClr val="F5A524"/>
                </a:solidFill>
                <a:latin typeface="Consolas"/>
              </a:defRPr>
            </a:pPr>
            <a:r>
              <a:t>03  |  FEASIBILITY + VIABILITY</a:t>
            </a:r>
          </a:p>
        </p:txBody>
      </p:sp>
      <p:sp>
        <p:nvSpPr>
          <p:cNvPr id="3" name="TextBox 2"/>
          <p:cNvSpPr txBox="1"/>
          <p:nvPr/>
        </p:nvSpPr>
        <p:spPr>
          <a:xfrm>
            <a:off x="548640" y="685800"/>
            <a:ext cx="11064240" cy="960120"/>
          </a:xfrm>
          <a:prstGeom prst="rect">
            <a:avLst/>
          </a:prstGeom>
          <a:noFill/>
        </p:spPr>
        <p:txBody>
          <a:bodyPr wrap="square" anchor="t">
            <a:spAutoFit/>
          </a:bodyPr>
          <a:lstStyle/>
          <a:p>
            <a:pPr algn="l">
              <a:defRPr sz="3400" b="1">
                <a:solidFill>
                  <a:srgbClr val="F2F4F8"/>
                </a:solidFill>
                <a:latin typeface="Segoe UI"/>
              </a:defRPr>
            </a:pPr>
            <a:r>
              <a:t>Already built, already verified. Three scenarios, all passing.</a:t>
            </a:r>
          </a:p>
        </p:txBody>
      </p:sp>
      <p:sp>
        <p:nvSpPr>
          <p:cNvPr id="4" name="Rectangle 3"/>
          <p:cNvSpPr/>
          <p:nvPr/>
        </p:nvSpPr>
        <p:spPr>
          <a:xfrm>
            <a:off x="548640" y="1682496"/>
            <a:ext cx="822960" cy="54864"/>
          </a:xfrm>
          <a:prstGeom prst="rect">
            <a:avLst/>
          </a:prstGeom>
          <a:solidFill>
            <a:srgbClr val="F5A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01368"/>
            <a:ext cx="11064240" cy="502920"/>
          </a:xfrm>
          <a:prstGeom prst="rect">
            <a:avLst/>
          </a:prstGeom>
          <a:noFill/>
        </p:spPr>
        <p:txBody>
          <a:bodyPr wrap="square" anchor="t">
            <a:spAutoFit/>
          </a:bodyPr>
          <a:lstStyle/>
          <a:p>
            <a:pPr algn="l">
              <a:defRPr sz="1500" b="0">
                <a:solidFill>
                  <a:srgbClr val="9AA3B2"/>
                </a:solidFill>
                <a:latin typeface="Segoe UI"/>
              </a:defRPr>
            </a:pPr>
            <a:r>
              <a:t>No cloud, no build step, nothing leaves the machine. Verified end to end on 2026-10-03.</a:t>
            </a:r>
          </a:p>
        </p:txBody>
      </p:sp>
      <p:sp>
        <p:nvSpPr>
          <p:cNvPr id="6" name="Rounded Rectangle 5"/>
          <p:cNvSpPr/>
          <p:nvPr/>
        </p:nvSpPr>
        <p:spPr>
          <a:xfrm>
            <a:off x="548640" y="2423160"/>
            <a:ext cx="11091672" cy="10515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8686800" cy="320040"/>
          </a:xfrm>
          <a:prstGeom prst="rect">
            <a:avLst/>
          </a:prstGeom>
          <a:noFill/>
        </p:spPr>
        <p:txBody>
          <a:bodyPr wrap="square" anchor="t">
            <a:spAutoFit/>
          </a:bodyPr>
          <a:lstStyle/>
          <a:p>
            <a:pPr algn="l">
              <a:defRPr sz="1400" b="1">
                <a:solidFill>
                  <a:srgbClr val="2BD97C"/>
                </a:solidFill>
                <a:latin typeface="Consolas"/>
              </a:defRPr>
            </a:pPr>
            <a:r>
              <a:t>SCENARIO 1: BENIGN</a:t>
            </a:r>
          </a:p>
        </p:txBody>
      </p:sp>
      <p:sp>
        <p:nvSpPr>
          <p:cNvPr id="8" name="TextBox 7"/>
          <p:cNvSpPr txBox="1"/>
          <p:nvPr/>
        </p:nvSpPr>
        <p:spPr>
          <a:xfrm>
            <a:off x="914400" y="2862072"/>
            <a:ext cx="8686800" cy="548640"/>
          </a:xfrm>
          <a:prstGeom prst="rect">
            <a:avLst/>
          </a:prstGeom>
          <a:noFill/>
        </p:spPr>
        <p:txBody>
          <a:bodyPr wrap="square" anchor="t">
            <a:spAutoFit/>
          </a:bodyPr>
          <a:lstStyle/>
          <a:p>
            <a:pPr algn="l">
              <a:defRPr sz="1250" b="0">
                <a:solidFill>
                  <a:srgbClr val="9AA3B2"/>
                </a:solidFill>
                <a:latin typeface="Segoe UI"/>
              </a:defRPr>
            </a:pPr>
            <a:r>
              <a:t>Agent summarizes 3 emails, saves a report. 5 tool calls, all allowed. 0 alerts. Task completes.</a:t>
            </a:r>
          </a:p>
        </p:txBody>
      </p:sp>
      <p:sp>
        <p:nvSpPr>
          <p:cNvPr id="9" name="TextBox 8"/>
          <p:cNvSpPr txBox="1"/>
          <p:nvPr/>
        </p:nvSpPr>
        <p:spPr>
          <a:xfrm>
            <a:off x="10332720" y="2679191"/>
            <a:ext cx="1097280" cy="548640"/>
          </a:xfrm>
          <a:prstGeom prst="rect">
            <a:avLst/>
          </a:prstGeom>
          <a:noFill/>
        </p:spPr>
        <p:txBody>
          <a:bodyPr wrap="square" anchor="t">
            <a:spAutoFit/>
          </a:bodyPr>
          <a:lstStyle/>
          <a:p>
            <a:pPr algn="r">
              <a:defRPr sz="1800" b="1">
                <a:solidFill>
                  <a:srgbClr val="2BD97C"/>
                </a:solidFill>
                <a:latin typeface="Segoe UI"/>
              </a:defRPr>
            </a:pPr>
            <a:r>
              <a:t>PASS</a:t>
            </a:r>
          </a:p>
        </p:txBody>
      </p:sp>
      <p:sp>
        <p:nvSpPr>
          <p:cNvPr id="10" name="Rounded Rectangle 9"/>
          <p:cNvSpPr/>
          <p:nvPr/>
        </p:nvSpPr>
        <p:spPr>
          <a:xfrm>
            <a:off x="548640" y="3566160"/>
            <a:ext cx="11091672" cy="10515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657600"/>
            <a:ext cx="8686800" cy="320040"/>
          </a:xfrm>
          <a:prstGeom prst="rect">
            <a:avLst/>
          </a:prstGeom>
          <a:noFill/>
        </p:spPr>
        <p:txBody>
          <a:bodyPr wrap="square" anchor="t">
            <a:spAutoFit/>
          </a:bodyPr>
          <a:lstStyle/>
          <a:p>
            <a:pPr algn="l">
              <a:defRPr sz="1400" b="1">
                <a:solidFill>
                  <a:srgbClr val="F04452"/>
                </a:solidFill>
                <a:latin typeface="Consolas"/>
              </a:defRPr>
            </a:pPr>
            <a:r>
              <a:t>SCENARIO 2: INJECTION ATTACK</a:t>
            </a:r>
          </a:p>
        </p:txBody>
      </p:sp>
      <p:sp>
        <p:nvSpPr>
          <p:cNvPr id="12" name="TextBox 11"/>
          <p:cNvSpPr txBox="1"/>
          <p:nvPr/>
        </p:nvSpPr>
        <p:spPr>
          <a:xfrm>
            <a:off x="914400" y="4005072"/>
            <a:ext cx="8686800" cy="548640"/>
          </a:xfrm>
          <a:prstGeom prst="rect">
            <a:avLst/>
          </a:prstGeom>
          <a:noFill/>
        </p:spPr>
        <p:txBody>
          <a:bodyPr wrap="square" anchor="t">
            <a:spAutoFit/>
          </a:bodyPr>
          <a:lstStyle/>
          <a:p>
            <a:pPr algn="l">
              <a:defRPr sz="1250" b="0">
                <a:solidFill>
                  <a:srgbClr val="9AA3B2"/>
                </a:solidFill>
                <a:latin typeface="Segoe UI"/>
              </a:defRPr>
            </a:pPr>
            <a:r>
              <a:t>Injection email orders exfiltration. Decoy read denied on the 3rd action, agent frozen, exfil email denied. 1 CRITICAL alert.</a:t>
            </a:r>
          </a:p>
        </p:txBody>
      </p:sp>
      <p:sp>
        <p:nvSpPr>
          <p:cNvPr id="13" name="TextBox 12"/>
          <p:cNvSpPr txBox="1"/>
          <p:nvPr/>
        </p:nvSpPr>
        <p:spPr>
          <a:xfrm>
            <a:off x="10332720" y="3822191"/>
            <a:ext cx="1097280" cy="548640"/>
          </a:xfrm>
          <a:prstGeom prst="rect">
            <a:avLst/>
          </a:prstGeom>
          <a:noFill/>
        </p:spPr>
        <p:txBody>
          <a:bodyPr wrap="square" anchor="t">
            <a:spAutoFit/>
          </a:bodyPr>
          <a:lstStyle/>
          <a:p>
            <a:pPr algn="r">
              <a:defRPr sz="1800" b="1">
                <a:solidFill>
                  <a:srgbClr val="2BD97C"/>
                </a:solidFill>
                <a:latin typeface="Segoe UI"/>
              </a:defRPr>
            </a:pPr>
            <a:r>
              <a:t>PASS</a:t>
            </a:r>
          </a:p>
        </p:txBody>
      </p:sp>
      <p:sp>
        <p:nvSpPr>
          <p:cNvPr id="14" name="Rounded Rectangle 13"/>
          <p:cNvSpPr/>
          <p:nvPr/>
        </p:nvSpPr>
        <p:spPr>
          <a:xfrm>
            <a:off x="548640" y="4709160"/>
            <a:ext cx="11091672" cy="105156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800600"/>
            <a:ext cx="8686800" cy="320040"/>
          </a:xfrm>
          <a:prstGeom prst="rect">
            <a:avLst/>
          </a:prstGeom>
          <a:noFill/>
        </p:spPr>
        <p:txBody>
          <a:bodyPr wrap="square" anchor="t">
            <a:spAutoFit/>
          </a:bodyPr>
          <a:lstStyle/>
          <a:p>
            <a:pPr algn="l">
              <a:defRPr sz="1400" b="1">
                <a:solidFill>
                  <a:srgbClr val="F04452"/>
                </a:solidFill>
                <a:latin typeface="Consolas"/>
              </a:defRPr>
            </a:pPr>
            <a:r>
              <a:t>SCENARIO 3: BAIT FOLLOWING (bonus)</a:t>
            </a:r>
          </a:p>
        </p:txBody>
      </p:sp>
      <p:sp>
        <p:nvSpPr>
          <p:cNvPr id="16" name="TextBox 15"/>
          <p:cNvSpPr txBox="1"/>
          <p:nvPr/>
        </p:nvSpPr>
        <p:spPr>
          <a:xfrm>
            <a:off x="914400" y="5148072"/>
            <a:ext cx="8686800" cy="548640"/>
          </a:xfrm>
          <a:prstGeom prst="rect">
            <a:avLst/>
          </a:prstGeom>
          <a:noFill/>
        </p:spPr>
        <p:txBody>
          <a:bodyPr wrap="square" anchor="t">
            <a:spAutoFit/>
          </a:bodyPr>
          <a:lstStyle/>
          <a:p>
            <a:pPr algn="l">
              <a:defRPr sz="1250" b="0">
                <a:solidFill>
                  <a:srgbClr val="9AA3B2"/>
                </a:solidFill>
                <a:latin typeface="Segoe UI"/>
              </a:defRPr>
            </a:pPr>
            <a:r>
              <a:t>Agent fetches a page with hidden bait text and obeys it. Proxy catches the bait-following, freezes the agent. 1 HIGH alert.</a:t>
            </a:r>
          </a:p>
        </p:txBody>
      </p:sp>
      <p:sp>
        <p:nvSpPr>
          <p:cNvPr id="17" name="TextBox 16"/>
          <p:cNvSpPr txBox="1"/>
          <p:nvPr/>
        </p:nvSpPr>
        <p:spPr>
          <a:xfrm>
            <a:off x="10332720" y="4965192"/>
            <a:ext cx="1097280" cy="548640"/>
          </a:xfrm>
          <a:prstGeom prst="rect">
            <a:avLst/>
          </a:prstGeom>
          <a:noFill/>
        </p:spPr>
        <p:txBody>
          <a:bodyPr wrap="square" anchor="t">
            <a:spAutoFit/>
          </a:bodyPr>
          <a:lstStyle/>
          <a:p>
            <a:pPr algn="r">
              <a:defRPr sz="1800" b="1">
                <a:solidFill>
                  <a:srgbClr val="2BD97C"/>
                </a:solidFill>
                <a:latin typeface="Segoe UI"/>
              </a:defRPr>
            </a:pPr>
            <a:r>
              <a:t>PASS</a:t>
            </a:r>
          </a:p>
        </p:txBody>
      </p:sp>
      <p:sp>
        <p:nvSpPr>
          <p:cNvPr id="18" name="Rounded Rectangle 17"/>
          <p:cNvSpPr/>
          <p:nvPr/>
        </p:nvSpPr>
        <p:spPr>
          <a:xfrm>
            <a:off x="548640" y="5870448"/>
            <a:ext cx="11091672" cy="868680"/>
          </a:xfrm>
          <a:prstGeom prst="roundRect">
            <a:avLst>
              <a:gd name="adj" fmla="val 8000"/>
            </a:avLst>
          </a:prstGeom>
          <a:solidFill>
            <a:srgbClr val="13182B"/>
          </a:solidFill>
          <a:ln w="12700">
            <a:solidFill>
              <a:srgbClr val="F5A5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961888"/>
            <a:ext cx="10515600" cy="731520"/>
          </a:xfrm>
          <a:prstGeom prst="rect">
            <a:avLst/>
          </a:prstGeom>
          <a:noFill/>
        </p:spPr>
        <p:txBody>
          <a:bodyPr wrap="square" anchor="t">
            <a:spAutoFit/>
          </a:bodyPr>
          <a:lstStyle/>
          <a:p>
            <a:pPr>
              <a:spcAft>
                <a:spcPts val="800"/>
              </a:spcAft>
              <a:defRPr b="1" sz="1300">
                <a:solidFill>
                  <a:srgbClr val="F5A524"/>
                </a:solidFill>
                <a:latin typeface="Segoe UI"/>
              </a:defRPr>
            </a:pPr>
            <a:r>
              <a:t>WHY THIS IS VIABLE IN 24 HOURS</a:t>
            </a:r>
          </a:p>
          <a:p>
            <a:pPr>
              <a:spcAft>
                <a:spcPts val="800"/>
              </a:spcAft>
              <a:defRPr b="0" sz="1300">
                <a:solidFill>
                  <a:srgbClr val="F2F4F8"/>
                </a:solidFill>
                <a:latin typeface="Segoe UI"/>
              </a:defRPr>
            </a:pPr>
            <a:r>
              <a:t>The interception core is done and tested. Hackathon time goes to the stretch goals: plug a real LLM in as the agent brain (the proxy watches actions, so it is model-agnostic), add canary database rows, and rotate tokens per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defRPr sz="1300" b="1">
                <a:solidFill>
                  <a:srgbClr val="F5A524"/>
                </a:solidFill>
                <a:latin typeface="Consolas"/>
              </a:defRPr>
            </a:pPr>
            <a:r>
              <a:t>04  |  IMPACT + BENEFITS</a:t>
            </a:r>
          </a:p>
        </p:txBody>
      </p:sp>
      <p:sp>
        <p:nvSpPr>
          <p:cNvPr id="3" name="TextBox 2"/>
          <p:cNvSpPr txBox="1"/>
          <p:nvPr/>
        </p:nvSpPr>
        <p:spPr>
          <a:xfrm>
            <a:off x="548640" y="685800"/>
            <a:ext cx="11064240" cy="960120"/>
          </a:xfrm>
          <a:prstGeom prst="rect">
            <a:avLst/>
          </a:prstGeom>
          <a:noFill/>
        </p:spPr>
        <p:txBody>
          <a:bodyPr wrap="square" anchor="t">
            <a:spAutoFit/>
          </a:bodyPr>
          <a:lstStyle/>
          <a:p>
            <a:pPr algn="l">
              <a:defRPr sz="3400" b="1">
                <a:solidFill>
                  <a:srgbClr val="F2F4F8"/>
                </a:solidFill>
                <a:latin typeface="Segoe UI"/>
              </a:defRPr>
            </a:pPr>
            <a:r>
              <a:t>Guardrails that work against injections nobody has seen yet.</a:t>
            </a:r>
          </a:p>
        </p:txBody>
      </p:sp>
      <p:sp>
        <p:nvSpPr>
          <p:cNvPr id="4" name="Rectangle 3"/>
          <p:cNvSpPr/>
          <p:nvPr/>
        </p:nvSpPr>
        <p:spPr>
          <a:xfrm>
            <a:off x="548640" y="1682496"/>
            <a:ext cx="822960" cy="54864"/>
          </a:xfrm>
          <a:prstGeom prst="rect">
            <a:avLst/>
          </a:prstGeom>
          <a:solidFill>
            <a:srgbClr val="F5A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01368"/>
            <a:ext cx="11064240" cy="502920"/>
          </a:xfrm>
          <a:prstGeom prst="rect">
            <a:avLst/>
          </a:prstGeom>
          <a:noFill/>
        </p:spPr>
        <p:txBody>
          <a:bodyPr wrap="square" anchor="t">
            <a:spAutoFit/>
          </a:bodyPr>
          <a:lstStyle/>
          <a:p>
            <a:pPr algn="l">
              <a:defRPr sz="1500" b="0">
                <a:solidFill>
                  <a:srgbClr val="9AA3B2"/>
                </a:solidFill>
                <a:latin typeface="Segoe UI"/>
              </a:defRPr>
            </a:pPr>
            <a:r>
              <a:t>Because detection keys on token contact, not on phrasing, it holds against reworded and obfuscated attacks without retraining.</a:t>
            </a:r>
          </a:p>
        </p:txBody>
      </p:sp>
      <p:sp>
        <p:nvSpPr>
          <p:cNvPr id="6" name="Rounded Rectangle 5"/>
          <p:cNvSpPr/>
          <p:nvPr/>
        </p:nvSpPr>
        <p:spPr>
          <a:xfrm>
            <a:off x="548640" y="2514600"/>
            <a:ext cx="5486400" cy="178308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697480"/>
            <a:ext cx="4937760" cy="457200"/>
          </a:xfrm>
          <a:prstGeom prst="rect">
            <a:avLst/>
          </a:prstGeom>
          <a:noFill/>
        </p:spPr>
        <p:txBody>
          <a:bodyPr wrap="square" anchor="t">
            <a:spAutoFit/>
          </a:bodyPr>
          <a:lstStyle/>
          <a:p>
            <a:pPr algn="l">
              <a:defRPr sz="1500" b="1">
                <a:solidFill>
                  <a:srgbClr val="F5A524"/>
                </a:solidFill>
                <a:latin typeface="Segoe UI"/>
              </a:defRPr>
            </a:pPr>
            <a:r>
              <a:t>For enterprises</a:t>
            </a:r>
          </a:p>
        </p:txBody>
      </p:sp>
      <p:sp>
        <p:nvSpPr>
          <p:cNvPr id="8" name="TextBox 7"/>
          <p:cNvSpPr txBox="1"/>
          <p:nvPr/>
        </p:nvSpPr>
        <p:spPr>
          <a:xfrm>
            <a:off x="822959" y="3154680"/>
            <a:ext cx="4937760" cy="1005840"/>
          </a:xfrm>
          <a:prstGeom prst="rect">
            <a:avLst/>
          </a:prstGeom>
          <a:noFill/>
        </p:spPr>
        <p:txBody>
          <a:bodyPr wrap="square" anchor="t">
            <a:spAutoFit/>
          </a:bodyPr>
          <a:lstStyle/>
          <a:p>
            <a:pPr algn="l">
              <a:defRPr sz="1300" b="0">
                <a:solidFill>
                  <a:srgbClr val="9AA3B2"/>
                </a:solidFill>
                <a:latin typeface="Segoe UI"/>
              </a:defRPr>
            </a:pPr>
            <a:r>
              <a:t>Any team shipping AI agents with tool access gets a last line of defense that sits outside the model and cannot be prompt-engineered away.</a:t>
            </a:r>
          </a:p>
        </p:txBody>
      </p:sp>
      <p:sp>
        <p:nvSpPr>
          <p:cNvPr id="9" name="Rounded Rectangle 8"/>
          <p:cNvSpPr/>
          <p:nvPr/>
        </p:nvSpPr>
        <p:spPr>
          <a:xfrm>
            <a:off x="6217920" y="2514600"/>
            <a:ext cx="5486400" cy="178308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697480"/>
            <a:ext cx="4937760" cy="457200"/>
          </a:xfrm>
          <a:prstGeom prst="rect">
            <a:avLst/>
          </a:prstGeom>
          <a:noFill/>
        </p:spPr>
        <p:txBody>
          <a:bodyPr wrap="square" anchor="t">
            <a:spAutoFit/>
          </a:bodyPr>
          <a:lstStyle/>
          <a:p>
            <a:pPr algn="l">
              <a:defRPr sz="1500" b="1">
                <a:solidFill>
                  <a:srgbClr val="F5A524"/>
                </a:solidFill>
                <a:latin typeface="Segoe UI"/>
              </a:defRPr>
            </a:pPr>
            <a:r>
              <a:t>For agent platforms</a:t>
            </a:r>
          </a:p>
        </p:txBody>
      </p:sp>
      <p:sp>
        <p:nvSpPr>
          <p:cNvPr id="11" name="TextBox 10"/>
          <p:cNvSpPr txBox="1"/>
          <p:nvPr/>
        </p:nvSpPr>
        <p:spPr>
          <a:xfrm>
            <a:off x="6492240" y="3154680"/>
            <a:ext cx="4937760" cy="1005840"/>
          </a:xfrm>
          <a:prstGeom prst="rect">
            <a:avLst/>
          </a:prstGeom>
          <a:noFill/>
        </p:spPr>
        <p:txBody>
          <a:bodyPr wrap="square" anchor="t">
            <a:spAutoFit/>
          </a:bodyPr>
          <a:lstStyle/>
          <a:p>
            <a:pPr algn="l">
              <a:defRPr sz="1300" b="0">
                <a:solidFill>
                  <a:srgbClr val="9AA3B2"/>
                </a:solidFill>
                <a:latin typeface="Segoe UI"/>
              </a:defRPr>
            </a:pPr>
            <a:r>
              <a:t>A drop-in proxy layer: log, check, allow or deny. Model-agnostic, so it rides along with whatever LLM the platform uses.</a:t>
            </a:r>
          </a:p>
        </p:txBody>
      </p:sp>
      <p:sp>
        <p:nvSpPr>
          <p:cNvPr id="12" name="Rounded Rectangle 11"/>
          <p:cNvSpPr/>
          <p:nvPr/>
        </p:nvSpPr>
        <p:spPr>
          <a:xfrm>
            <a:off x="548640" y="4480560"/>
            <a:ext cx="5486400" cy="178308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663440"/>
            <a:ext cx="4937760" cy="457200"/>
          </a:xfrm>
          <a:prstGeom prst="rect">
            <a:avLst/>
          </a:prstGeom>
          <a:noFill/>
        </p:spPr>
        <p:txBody>
          <a:bodyPr wrap="square" anchor="t">
            <a:spAutoFit/>
          </a:bodyPr>
          <a:lstStyle/>
          <a:p>
            <a:pPr algn="l">
              <a:defRPr sz="1500" b="1">
                <a:solidFill>
                  <a:srgbClr val="F5A524"/>
                </a:solidFill>
                <a:latin typeface="Segoe UI"/>
              </a:defRPr>
            </a:pPr>
            <a:r>
              <a:t>Measured behavior</a:t>
            </a:r>
          </a:p>
        </p:txBody>
      </p:sp>
      <p:sp>
        <p:nvSpPr>
          <p:cNvPr id="14" name="TextBox 13"/>
          <p:cNvSpPr txBox="1"/>
          <p:nvPr/>
        </p:nvSpPr>
        <p:spPr>
          <a:xfrm>
            <a:off x="822959" y="5120640"/>
            <a:ext cx="4937760" cy="1005840"/>
          </a:xfrm>
          <a:prstGeom prst="rect">
            <a:avLst/>
          </a:prstGeom>
          <a:noFill/>
        </p:spPr>
        <p:txBody>
          <a:bodyPr wrap="square" anchor="t">
            <a:spAutoFit/>
          </a:bodyPr>
          <a:lstStyle/>
          <a:p>
            <a:pPr algn="l">
              <a:defRPr sz="1300" b="0">
                <a:solidFill>
                  <a:srgbClr val="9AA3B2"/>
                </a:solidFill>
                <a:latin typeface="Segoe UI"/>
              </a:defRPr>
            </a:pPr>
            <a:r>
              <a:t>Attack scenarios caught at 100% (2 of 2) with the agent frozen before any malicious action completed; benign run finished with 0 false alerts.</a:t>
            </a:r>
          </a:p>
        </p:txBody>
      </p:sp>
      <p:sp>
        <p:nvSpPr>
          <p:cNvPr id="15" name="Rounded Rectangle 14"/>
          <p:cNvSpPr/>
          <p:nvPr/>
        </p:nvSpPr>
        <p:spPr>
          <a:xfrm>
            <a:off x="6217920" y="4480560"/>
            <a:ext cx="5486400" cy="1783080"/>
          </a:xfrm>
          <a:prstGeom prst="roundRect">
            <a:avLst>
              <a:gd name="adj" fmla="val 8000"/>
            </a:avLst>
          </a:prstGeom>
          <a:solidFill>
            <a:srgbClr val="171F38"/>
          </a:solidFill>
          <a:ln w="12700">
            <a:solidFill>
              <a:srgbClr val="2A3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663440"/>
            <a:ext cx="4937760" cy="457200"/>
          </a:xfrm>
          <a:prstGeom prst="rect">
            <a:avLst/>
          </a:prstGeom>
          <a:noFill/>
        </p:spPr>
        <p:txBody>
          <a:bodyPr wrap="square" anchor="t">
            <a:spAutoFit/>
          </a:bodyPr>
          <a:lstStyle/>
          <a:p>
            <a:pPr algn="l">
              <a:defRPr sz="1500" b="1">
                <a:solidFill>
                  <a:srgbClr val="F5A524"/>
                </a:solidFill>
                <a:latin typeface="Segoe UI"/>
              </a:defRPr>
            </a:pPr>
            <a:r>
              <a:t>Future scope</a:t>
            </a:r>
          </a:p>
        </p:txBody>
      </p:sp>
      <p:sp>
        <p:nvSpPr>
          <p:cNvPr id="17" name="TextBox 16"/>
          <p:cNvSpPr txBox="1"/>
          <p:nvPr/>
        </p:nvSpPr>
        <p:spPr>
          <a:xfrm>
            <a:off x="6492240" y="5120640"/>
            <a:ext cx="4937760" cy="1005840"/>
          </a:xfrm>
          <a:prstGeom prst="rect">
            <a:avLst/>
          </a:prstGeom>
          <a:noFill/>
        </p:spPr>
        <p:txBody>
          <a:bodyPr wrap="square" anchor="t">
            <a:spAutoFit/>
          </a:bodyPr>
          <a:lstStyle/>
          <a:p>
            <a:pPr algn="l">
              <a:defRPr sz="1300" b="0">
                <a:solidFill>
                  <a:srgbClr val="9AA3B2"/>
                </a:solidFill>
                <a:latin typeface="Segoe UI"/>
              </a:defRPr>
            </a:pPr>
            <a:r>
              <a:t>Real LLM brain, canary database rows, per-deployment token rotation, SIEM alert export, and a red-team mode that scores evasion attempts.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nchor="t">
            <a:spAutoFit/>
          </a:bodyPr>
          <a:lstStyle/>
          <a:p>
            <a:pPr algn="l">
              <a:defRPr sz="1300" b="1">
                <a:solidFill>
                  <a:srgbClr val="F5A524"/>
                </a:solidFill>
                <a:latin typeface="Consolas"/>
              </a:defRPr>
            </a:pPr>
            <a:r>
              <a:t>05  |  RESEARCH + REFERENCES</a:t>
            </a:r>
          </a:p>
        </p:txBody>
      </p:sp>
      <p:sp>
        <p:nvSpPr>
          <p:cNvPr id="3" name="TextBox 2"/>
          <p:cNvSpPr txBox="1"/>
          <p:nvPr/>
        </p:nvSpPr>
        <p:spPr>
          <a:xfrm>
            <a:off x="548640" y="685800"/>
            <a:ext cx="11064240" cy="960120"/>
          </a:xfrm>
          <a:prstGeom prst="rect">
            <a:avLst/>
          </a:prstGeom>
          <a:noFill/>
        </p:spPr>
        <p:txBody>
          <a:bodyPr wrap="square" anchor="t">
            <a:spAutoFit/>
          </a:bodyPr>
          <a:lstStyle/>
          <a:p>
            <a:pPr algn="l">
              <a:defRPr sz="3400" b="1">
                <a:solidFill>
                  <a:srgbClr val="F2F4F8"/>
                </a:solidFill>
                <a:latin typeface="Segoe UI"/>
              </a:defRPr>
            </a:pPr>
            <a:r>
              <a:t>Built on established deception research, aimed at the top AI-app threat.</a:t>
            </a:r>
          </a:p>
        </p:txBody>
      </p:sp>
      <p:sp>
        <p:nvSpPr>
          <p:cNvPr id="4" name="Rectangle 3"/>
          <p:cNvSpPr/>
          <p:nvPr/>
        </p:nvSpPr>
        <p:spPr>
          <a:xfrm>
            <a:off x="548640" y="1682496"/>
            <a:ext cx="822960" cy="54864"/>
          </a:xfrm>
          <a:prstGeom prst="rect">
            <a:avLst/>
          </a:prstGeom>
          <a:solidFill>
            <a:srgbClr val="F5A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01368"/>
            <a:ext cx="11064240" cy="502920"/>
          </a:xfrm>
          <a:prstGeom prst="rect">
            <a:avLst/>
          </a:prstGeom>
          <a:noFill/>
        </p:spPr>
        <p:txBody>
          <a:bodyPr wrap="square" anchor="t">
            <a:spAutoFit/>
          </a:bodyPr>
          <a:lstStyle/>
          <a:p>
            <a:pPr algn="l">
              <a:defRPr sz="1500" b="0">
                <a:solidFill>
                  <a:srgbClr val="9AA3B2"/>
                </a:solidFill>
                <a:latin typeface="Segoe UI"/>
              </a:defRPr>
            </a:pPr>
            <a:r>
              <a:t>Everything below is real, public, and linked from the repo README.</a:t>
            </a:r>
          </a:p>
        </p:txBody>
      </p:sp>
      <p:sp>
        <p:nvSpPr>
          <p:cNvPr id="6" name="TextBox 5"/>
          <p:cNvSpPr txBox="1"/>
          <p:nvPr/>
        </p:nvSpPr>
        <p:spPr>
          <a:xfrm>
            <a:off x="548640" y="2468880"/>
            <a:ext cx="11064240" cy="3474720"/>
          </a:xfrm>
          <a:prstGeom prst="rect">
            <a:avLst/>
          </a:prstGeom>
          <a:noFill/>
        </p:spPr>
        <p:txBody>
          <a:bodyPr wrap="square" anchor="t">
            <a:spAutoFit/>
          </a:bodyPr>
          <a:lstStyle/>
          <a:p>
            <a:pPr>
              <a:spcAft>
                <a:spcPts val="1000"/>
              </a:spcAft>
              <a:defRPr b="1" sz="1350">
                <a:solidFill>
                  <a:srgbClr val="F5A524"/>
                </a:solidFill>
                <a:latin typeface="Segoe UI"/>
              </a:defRPr>
            </a:pPr>
            <a:r>
              <a:t>HONEYTOKENS + DECEPTION</a:t>
            </a:r>
          </a:p>
          <a:p>
            <a:pPr>
              <a:spcAft>
                <a:spcPts val="1000"/>
              </a:spcAft>
              <a:defRPr b="0" sz="1350">
                <a:solidFill>
                  <a:srgbClr val="F2F4F8"/>
                </a:solidFill>
                <a:latin typeface="Segoe UI"/>
              </a:defRPr>
            </a:pPr>
            <a:r>
              <a:t>- L. Spitzner, Honeypots/Honeytokens (Honeynet Project, 2003): the original deception idea, fake assets whose only purpose is to be touched by attackers.</a:t>
            </a:r>
          </a:p>
          <a:p>
            <a:pPr>
              <a:spcAft>
                <a:spcPts val="1000"/>
              </a:spcAft>
              <a:defRPr b="0" sz="1350">
                <a:solidFill>
                  <a:srgbClr val="F2F4F8"/>
                </a:solidFill>
                <a:latin typeface="Segoe UI"/>
              </a:defRPr>
            </a:pPr>
            <a:r>
              <a:t>- Canary tokens and breach-detection decoys are now standard practice in production security stacks (e.g. Thinkst Canary).</a:t>
            </a:r>
          </a:p>
          <a:p>
            <a:pPr>
              <a:spcAft>
                <a:spcPts val="1000"/>
              </a:spcAft>
              <a:defRPr b="1" sz="1350">
                <a:solidFill>
                  <a:srgbClr val="F5A524"/>
                </a:solidFill>
                <a:latin typeface="Segoe UI"/>
              </a:defRPr>
            </a:pPr>
            <a:r>
              <a:t>PROMPT INJECTION</a:t>
            </a:r>
          </a:p>
          <a:p>
            <a:pPr>
              <a:spcAft>
                <a:spcPts val="1000"/>
              </a:spcAft>
              <a:defRPr b="0" sz="1350">
                <a:solidFill>
                  <a:srgbClr val="F2F4F8"/>
                </a:solidFill>
                <a:latin typeface="Segoe UI"/>
              </a:defRPr>
            </a:pPr>
            <a:r>
              <a:t>- OWASP Top 10 for LLM Applications: Prompt Injection ranked LLM01 (2023, 2025 update), the highest-severity AI application risk.</a:t>
            </a:r>
          </a:p>
          <a:p>
            <a:pPr>
              <a:spcAft>
                <a:spcPts val="1000"/>
              </a:spcAft>
              <a:defRPr b="0" sz="1350">
                <a:solidFill>
                  <a:srgbClr val="F2F4F8"/>
                </a:solidFill>
                <a:latin typeface="Segoe UI"/>
              </a:defRPr>
            </a:pPr>
            <a:r>
              <a:t>- Indirect prompt injection research (Greshake et al., 2023): injections hidden in tool outputs, the exact vector Tripwires watches.</a:t>
            </a:r>
          </a:p>
          <a:p>
            <a:pPr>
              <a:spcAft>
                <a:spcPts val="1000"/>
              </a:spcAft>
              <a:defRPr b="1" sz="1350">
                <a:solidFill>
                  <a:srgbClr val="F5A524"/>
                </a:solidFill>
                <a:latin typeface="Segoe UI"/>
              </a:defRPr>
            </a:pPr>
            <a:r>
              <a:t>THIS PROJECT</a:t>
            </a:r>
          </a:p>
          <a:p>
            <a:pPr>
              <a:spcAft>
                <a:spcPts val="1000"/>
              </a:spcAft>
              <a:defRPr b="0" sz="1350">
                <a:solidFill>
                  <a:srgbClr val="F2F4F8"/>
                </a:solidFill>
                <a:latin typeface="Segoe UI"/>
              </a:defRPr>
            </a:pPr>
            <a:r>
              <a:t>- BeastAyyG/tripwires (public, MIT): 12 files, Python core plus a single-file live dashboard, zero dependencies, runs fully offline.</a:t>
            </a:r>
          </a:p>
          <a:p>
            <a:pPr>
              <a:spcAft>
                <a:spcPts val="1000"/>
              </a:spcAft>
              <a:defRPr b="0" sz="1350">
                <a:solidFill>
                  <a:srgbClr val="F2F4F8"/>
                </a:solidFill>
                <a:latin typeface="Segoe UI"/>
              </a:defRPr>
            </a:pPr>
            <a:r>
              <a:t>- Verified 2026-10-03: benign run 0 alerts, injection frozen before exfiltration, bait-following caught. All scenarios PASS.</a:t>
            </a:r>
          </a:p>
        </p:txBody>
      </p:sp>
      <p:sp>
        <p:nvSpPr>
          <p:cNvPr id="7" name="TextBox 6"/>
          <p:cNvSpPr txBox="1"/>
          <p:nvPr/>
        </p:nvSpPr>
        <p:spPr>
          <a:xfrm>
            <a:off x="548640" y="6172200"/>
            <a:ext cx="11064240" cy="457200"/>
          </a:xfrm>
          <a:prstGeom prst="rect">
            <a:avLst/>
          </a:prstGeom>
          <a:noFill/>
        </p:spPr>
        <p:txBody>
          <a:bodyPr wrap="square" anchor="t">
            <a:spAutoFit/>
          </a:bodyPr>
          <a:lstStyle/>
          <a:p>
            <a:pPr algn="ctr">
              <a:defRPr sz="1500" b="0">
                <a:solidFill>
                  <a:srgbClr val="00D4FF"/>
                </a:solidFill>
                <a:latin typeface="Consolas"/>
              </a:defRPr>
            </a:pPr>
            <a:r>
              <a:t>github.com/BeastAyyG/tripwires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